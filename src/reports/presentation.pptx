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a9342460a_20_4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a9342460a_20_31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abb123c0a_2_6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a9342460a_20_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bb123c0a_2_22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a9342460a_48_5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a9342460a_48_8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a9342460a_48_107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da9342460a_48_17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a9342460a_48_171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da9342460a_48_19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a9342460a_130_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a9342460a_7_0)">
  <p:cSld name="Generated (g3da9342460a_7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29529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futuristic, high-tech visualization of big data networks and social review connectivity, themed around Yelp's ecosystem with vibrant red and white data nodes glowing against a dark digital background."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125" y="952500"/>
            <a:ext cx="2476500" cy="24765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>
            <a:off x="285750" y="3619500"/>
            <a:ext cx="2381400" cy="381000"/>
          </a:xfrm>
          <a:prstGeom prst="rect">
            <a:avLst/>
          </a:prstGeom>
          <a:solidFill>
            <a:srgbClr val="1E4D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285750" y="3619500"/>
            <a:ext cx="2381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Видобування великих даних</a:t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3238500" y="666750"/>
            <a:ext cx="5524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Yelp</a:t>
            </a:r>
            <a:endParaRPr b="1" sz="58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3238500" y="1619250"/>
            <a:ext cx="5524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CADCFC"/>
                </a:solidFill>
                <a:latin typeface="Trebuchet MS"/>
                <a:ea typeface="Trebuchet MS"/>
                <a:cs typeface="Trebuchet MS"/>
                <a:sym typeface="Trebuchet MS"/>
              </a:rPr>
              <a:t>Big Data Analysis Project</a:t>
            </a:r>
            <a:endParaRPr b="1" sz="2400">
              <a:solidFill>
                <a:srgbClr val="CADCF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3238500" y="2286000"/>
            <a:ext cx="5524500" cy="381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238500" y="2428875"/>
            <a:ext cx="5524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Аналіз · Масштабованість · Обробка · SQL</a:t>
            </a:r>
            <a:endParaRPr i="1" sz="13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238500" y="3143250"/>
            <a:ext cx="2667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Виконавці: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Олексій Горишевський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Данило Шляхетко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Ілля Мацько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Труш Соломія</a:t>
            </a:r>
            <a:endParaRPr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096000" y="3143250"/>
            <a:ext cx="2667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Навчальний заклад: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НУ "Львівська політехніка"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Кафедра СШІ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Група ШІ-32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238500" y="4667250"/>
            <a:ext cx="5524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Apache Spark Framework · Yelp Open Dataset · 2026</a:t>
            </a:r>
            <a:endParaRPr sz="10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1638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23850" y="200025"/>
            <a:ext cx="8505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Підготовчий етап: Фундамент проекту</a:t>
            </a:r>
            <a:endParaRPr b="1" sz="2600">
              <a:solidFill>
                <a:srgbClr val="0A162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23850" y="781050"/>
            <a:ext cx="8505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Розподіл ролей та перші кроки для роботи з великими даними Yelp</a:t>
            </a:r>
            <a:endParaRPr b="0"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23850" y="1114425"/>
            <a:ext cx="8505900" cy="285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5"/>
          <p:cNvGrpSpPr/>
          <p:nvPr/>
        </p:nvGrpSpPr>
        <p:grpSpPr>
          <a:xfrm>
            <a:off x="323850" y="1295400"/>
            <a:ext cx="4286400" cy="1047900"/>
            <a:chOff x="0" y="0"/>
            <a:chExt cx="4286400" cy="1047900"/>
          </a:xfrm>
        </p:grpSpPr>
        <p:sp>
          <p:nvSpPr>
            <p:cNvPr id="73" name="Google Shape;73;p15"/>
            <p:cNvSpPr/>
            <p:nvPr/>
          </p:nvSpPr>
          <p:spPr>
            <a:xfrm>
              <a:off x="0" y="0"/>
              <a:ext cx="42864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0"/>
              <a:ext cx="76200" cy="10479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238125" y="142875"/>
              <a:ext cx="3905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40">
                  <a:solidFill>
                    <a:srgbClr val="0A162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Розподіл ролей</a:t>
              </a:r>
              <a:endParaRPr b="1" sz="84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-27749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64748B"/>
                </a:buClr>
                <a:buSzPts val="770"/>
                <a:buFont typeface="Calibri"/>
                <a:buChar char="●"/>
              </a:pPr>
              <a:r>
                <a:rPr b="1" lang="en-GB" sz="77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О. Горишевський:</a:t>
              </a:r>
              <a:r>
                <a:rPr b="0" lang="en-GB" sz="77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Налаштування репозиторію</a:t>
              </a:r>
              <a:endParaRPr b="0" sz="77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7749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4748B"/>
                </a:buClr>
                <a:buSzPts val="770"/>
                <a:buFont typeface="Calibri"/>
                <a:buChar char="●"/>
              </a:pPr>
              <a:r>
                <a:rPr b="1" lang="en-GB" sz="77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Д. Шляхетко:</a:t>
              </a:r>
              <a:r>
                <a:rPr b="0" lang="en-GB" sz="77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Аналіз датасету Yelp</a:t>
              </a:r>
              <a:endParaRPr b="0" sz="77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7749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64748B"/>
                </a:buClr>
                <a:buSzPts val="770"/>
                <a:buFont typeface="Calibri"/>
                <a:buChar char="●"/>
              </a:pPr>
              <a:r>
                <a:rPr b="1" lang="en-GB" sz="77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І. Мацько:</a:t>
              </a:r>
              <a:r>
                <a:rPr b="0" lang="en-GB" sz="77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Оформлення структури проекту</a:t>
              </a:r>
              <a:endParaRPr b="0" sz="77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77495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64748B"/>
                </a:buClr>
                <a:buSzPts val="770"/>
                <a:buFont typeface="Calibri"/>
                <a:buChar char="●"/>
              </a:pPr>
              <a:r>
                <a:rPr b="1" lang="en-GB" sz="77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Т. Соломія:</a:t>
              </a:r>
              <a:r>
                <a:rPr b="0" lang="en-GB" sz="77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Конфігурація гілок та .gitignore</a:t>
              </a:r>
              <a:endParaRPr b="0" sz="77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" name="Google Shape;76;p15"/>
          <p:cNvGrpSpPr/>
          <p:nvPr/>
        </p:nvGrpSpPr>
        <p:grpSpPr>
          <a:xfrm>
            <a:off x="323850" y="2476500"/>
            <a:ext cx="4286400" cy="2381400"/>
            <a:chOff x="0" y="0"/>
            <a:chExt cx="4286400" cy="2381400"/>
          </a:xfrm>
        </p:grpSpPr>
        <p:sp>
          <p:nvSpPr>
            <p:cNvPr id="77" name="Google Shape;77;p15"/>
            <p:cNvSpPr/>
            <p:nvPr/>
          </p:nvSpPr>
          <p:spPr>
            <a:xfrm>
              <a:off x="0" y="0"/>
              <a:ext cx="4286400" cy="2381400"/>
            </a:xfrm>
            <a:prstGeom prst="roundRect">
              <a:avLst>
                <a:gd fmla="val 16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0" y="0"/>
              <a:ext cx="76200" cy="23814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238125" y="142875"/>
              <a:ext cx="39054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770">
                  <a:solidFill>
                    <a:srgbClr val="1E4D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Технічна реалізація</a:t>
              </a:r>
              <a:endParaRPr b="1" sz="770">
                <a:solidFill>
                  <a:srgbClr val="1E4D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4D8C"/>
                  </a:solidFill>
                  <a:latin typeface="Calibri"/>
                  <a:ea typeface="Calibri"/>
                  <a:cs typeface="Calibri"/>
                  <a:sym typeface="Calibri"/>
                </a:rPr>
                <a:t>1. Середовище:</a:t>
              </a:r>
              <a:endParaRPr b="1" sz="1000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Встановлення PySpark для паралельних обчислень та ініціалізація Git репозиторію (main/dev).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1E4D8C"/>
                  </a:solidFill>
                  <a:latin typeface="Calibri"/>
                  <a:ea typeface="Calibri"/>
                  <a:cs typeface="Calibri"/>
                  <a:sym typeface="Calibri"/>
                </a:rPr>
                <a:t>2. Конвеєр даних (download.py):</a:t>
              </a:r>
              <a:endParaRPr b="1" sz="1000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Автоматизоване скачування, перевірка цілісності, розпаковка JSON та логування результатів паралельно для кількох джерел.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Крок 01</a:t>
              </a:r>
              <a:endParaRPr b="1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descr="A professional, minimalist 3D isometric illustration of a data engineering setup. A laptop showing code and a Yelp logo, with floating JSON file icons and a Spark logo. Modern technology aesthetic, clean blue and white tones." id="80" name="Google Shape;80;p15"/>
          <p:cNvPicPr preferRelativeResize="0"/>
          <p:nvPr/>
        </p:nvPicPr>
        <p:blipFill rotWithShape="1">
          <a:blip r:embed="rId3">
            <a:alphaModFix/>
          </a:blip>
          <a:srcRect b="0" l="9004" r="8995" t="0"/>
          <a:stretch/>
        </p:blipFill>
        <p:spPr>
          <a:xfrm>
            <a:off x="4905375" y="1295400"/>
            <a:ext cx="3905400" cy="3571800"/>
          </a:xfrm>
          <a:prstGeom prst="roundRect">
            <a:avLst>
              <a:gd fmla="val 32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0"/>
            <a:ext cx="1620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476250" y="381000"/>
            <a:ext cx="81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Етап налаштування: Docker та PySpark</a:t>
            </a:r>
            <a:endParaRPr b="1" sz="32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476250" y="904875"/>
            <a:ext cx="819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ADCFC"/>
                </a:solidFill>
                <a:latin typeface="Trebuchet MS"/>
                <a:ea typeface="Trebuchet MS"/>
                <a:cs typeface="Trebuchet MS"/>
                <a:sym typeface="Trebuchet MS"/>
              </a:rPr>
              <a:t>Інфраструктура та середовище розробки</a:t>
            </a:r>
            <a:endParaRPr b="1" sz="1600">
              <a:solidFill>
                <a:srgbClr val="CADCF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87" name="Google Shape;87;p16"/>
          <p:cNvGrpSpPr/>
          <p:nvPr/>
        </p:nvGrpSpPr>
        <p:grpSpPr>
          <a:xfrm>
            <a:off x="476250" y="1428750"/>
            <a:ext cx="4000500" cy="1047900"/>
            <a:chOff x="476250" y="1428750"/>
            <a:chExt cx="4000500" cy="1047900"/>
          </a:xfrm>
        </p:grpSpPr>
        <p:sp>
          <p:nvSpPr>
            <p:cNvPr id="88" name="Google Shape;88;p16"/>
            <p:cNvSpPr/>
            <p:nvPr/>
          </p:nvSpPr>
          <p:spPr>
            <a:xfrm>
              <a:off x="476250" y="1428750"/>
              <a:ext cx="4000500" cy="1047900"/>
            </a:xfrm>
            <a:prstGeom prst="roundRect">
              <a:avLst>
                <a:gd fmla="val 7272" name="adj"/>
              </a:avLst>
            </a:prstGeom>
            <a:solidFill>
              <a:srgbClr val="F1F5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6"/>
            <p:cNvSpPr/>
            <p:nvPr/>
          </p:nvSpPr>
          <p:spPr>
            <a:xfrm>
              <a:off x="476250" y="1428750"/>
              <a:ext cx="57300" cy="10479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6"/>
            <p:cNvSpPr txBox="1"/>
            <p:nvPr/>
          </p:nvSpPr>
          <p:spPr>
            <a:xfrm>
              <a:off x="666750" y="1476375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РОЗПОДІЛ РОЛЕЙ</a:t>
              </a:r>
              <a:endParaRPr b="1" sz="85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5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Олексій Горишевський</a:t>
              </a:r>
              <a:r>
                <a:rPr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- Створення Dockerfile та образу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Данило Шляхетко</a:t>
              </a:r>
              <a:r>
                <a:rPr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- Розділив Dockerfile на build та runtime стадії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Ілля Мацько </a:t>
              </a:r>
              <a:r>
                <a:rPr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- Виправив Dockerfile для Java JDK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Труш Соломія</a:t>
              </a:r>
              <a:r>
                <a:rPr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- Налаштувала підключення Spark сесії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6"/>
          <p:cNvGrpSpPr/>
          <p:nvPr/>
        </p:nvGrpSpPr>
        <p:grpSpPr>
          <a:xfrm>
            <a:off x="476250" y="2619375"/>
            <a:ext cx="4000500" cy="1000200"/>
            <a:chOff x="476250" y="2619375"/>
            <a:chExt cx="4000500" cy="1000200"/>
          </a:xfrm>
        </p:grpSpPr>
        <p:sp>
          <p:nvSpPr>
            <p:cNvPr id="92" name="Google Shape;92;p16"/>
            <p:cNvSpPr/>
            <p:nvPr/>
          </p:nvSpPr>
          <p:spPr>
            <a:xfrm>
              <a:off x="476250" y="2619375"/>
              <a:ext cx="4000500" cy="1000200"/>
            </a:xfrm>
            <a:prstGeom prst="roundRect">
              <a:avLst>
                <a:gd fmla="val 7619" name="adj"/>
              </a:avLst>
            </a:prstGeom>
            <a:solidFill>
              <a:srgbClr val="F1F5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6"/>
            <p:cNvSpPr/>
            <p:nvPr/>
          </p:nvSpPr>
          <p:spPr>
            <a:xfrm>
              <a:off x="476250" y="2619375"/>
              <a:ext cx="57300" cy="10002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666750" y="2667000"/>
              <a:ext cx="361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КЛЮЧОВІ ПРОЦЕСИ DOCKERFILE</a:t>
              </a:r>
              <a:endParaRPr b="1" sz="85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5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-294323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35"/>
                <a:buFont typeface="Calibri"/>
                <a:buChar char="●"/>
              </a:pPr>
              <a:r>
                <a:rPr b="0" lang="en-GB" sz="1035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Використання образу Java JDK</a:t>
              </a:r>
              <a:endParaRPr b="0" sz="103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4323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35"/>
                <a:buFont typeface="Calibri"/>
                <a:buChar char="●"/>
              </a:pPr>
              <a:r>
                <a:rPr b="0" lang="en-GB" sz="1035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Синхронізація Python-залежностей через uv</a:t>
              </a:r>
              <a:endParaRPr b="0" sz="103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4323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35"/>
                <a:buFont typeface="Calibri"/>
                <a:buChar char="●"/>
              </a:pPr>
              <a:r>
                <a:rPr b="0" lang="en-GB" sz="1035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Створення безпечного користувача</a:t>
              </a:r>
              <a:endParaRPr b="0" sz="103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6"/>
          <p:cNvGrpSpPr/>
          <p:nvPr/>
        </p:nvGrpSpPr>
        <p:grpSpPr>
          <a:xfrm>
            <a:off x="476250" y="3762375"/>
            <a:ext cx="4000500" cy="1000200"/>
            <a:chOff x="476250" y="3762375"/>
            <a:chExt cx="4000500" cy="1000200"/>
          </a:xfrm>
        </p:grpSpPr>
        <p:sp>
          <p:nvSpPr>
            <p:cNvPr id="96" name="Google Shape;96;p16"/>
            <p:cNvSpPr/>
            <p:nvPr/>
          </p:nvSpPr>
          <p:spPr>
            <a:xfrm>
              <a:off x="476250" y="3762375"/>
              <a:ext cx="4000500" cy="1000200"/>
            </a:xfrm>
            <a:prstGeom prst="roundRect">
              <a:avLst>
                <a:gd fmla="val 7619" name="adj"/>
              </a:avLst>
            </a:prstGeom>
            <a:solidFill>
              <a:srgbClr val="F1F5F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476250" y="3762375"/>
              <a:ext cx="57300" cy="1000200"/>
            </a:xfrm>
            <a:prstGeom prst="rect">
              <a:avLst/>
            </a:prstGeom>
            <a:solidFill>
              <a:srgbClr val="6B4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666750" y="3810000"/>
              <a:ext cx="36195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85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НАЛАШТУВАННЯ SPARK</a:t>
              </a:r>
              <a:endParaRPr b="1" sz="85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85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-294323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35"/>
                <a:buFont typeface="Calibri"/>
                <a:buChar char="●"/>
              </a:pPr>
              <a:r>
                <a:rPr b="0" lang="en-GB" sz="1035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Конфігурація Java та інсталяція pyspark</a:t>
              </a:r>
              <a:endParaRPr b="0" sz="103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4323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35"/>
                <a:buFont typeface="Calibri"/>
                <a:buChar char="●"/>
              </a:pPr>
              <a:r>
                <a:rPr b="0" lang="en-GB" sz="1035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Створення точки входу (main.py)</a:t>
              </a:r>
              <a:endParaRPr b="0" sz="103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4323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035"/>
                <a:buFont typeface="Calibri"/>
                <a:buChar char="●"/>
              </a:pPr>
              <a:r>
                <a:rPr b="0" lang="en-GB" sz="1035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Тестування DataFrame (.show())</a:t>
              </a:r>
              <a:endParaRPr b="0" sz="1035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ean 3D technical illustration of a Docker container floating among digital data streams with an integrated Apache Spark logo. Professional dark blue aesthetic with subtle violet glows."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7750" y="1428750"/>
            <a:ext cx="3810000" cy="2857500"/>
          </a:xfrm>
          <a:prstGeom prst="roundRect">
            <a:avLst>
              <a:gd fmla="val 4000" name="adj"/>
            </a:avLst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4857750" y="1428750"/>
            <a:ext cx="3810000" cy="2857500"/>
          </a:xfrm>
          <a:prstGeom prst="roundRect">
            <a:avLst>
              <a:gd fmla="val 4000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0D8C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0" y="0"/>
            <a:ext cx="1641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320040" y="200977"/>
            <a:ext cx="85029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Етап видобування (Extraction Stage)</a:t>
            </a:r>
            <a:endParaRPr b="1" sz="2600">
              <a:solidFill>
                <a:srgbClr val="0A162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20040" y="777240"/>
            <a:ext cx="8502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Створення схем даних та модулів для завантаження у Spark DataFrame</a:t>
            </a:r>
            <a:endParaRPr b="0"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20040" y="1115378"/>
            <a:ext cx="8502900" cy="267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7"/>
          <p:cNvGrpSpPr/>
          <p:nvPr/>
        </p:nvGrpSpPr>
        <p:grpSpPr>
          <a:xfrm>
            <a:off x="320040" y="1298258"/>
            <a:ext cx="4205400" cy="1047900"/>
            <a:chOff x="0" y="0"/>
            <a:chExt cx="4205400" cy="1047900"/>
          </a:xfrm>
        </p:grpSpPr>
        <p:sp>
          <p:nvSpPr>
            <p:cNvPr id="109" name="Google Shape;109;p17"/>
            <p:cNvSpPr/>
            <p:nvPr/>
          </p:nvSpPr>
          <p:spPr>
            <a:xfrm>
              <a:off x="0" y="0"/>
              <a:ext cx="42054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>
              <a:off x="0" y="0"/>
              <a:ext cx="63900" cy="10479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190500" y="95250"/>
              <a:ext cx="381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ОПИС ПРОЦЕСУ</a:t>
              </a:r>
              <a:endParaRPr b="1" sz="10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0A162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Трансформація сирих даних</a:t>
              </a:r>
              <a:endParaRPr b="1" sz="11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Описано перетворення даних із JSON-файлів у структуровані Spark DataFrames для зручної подальшої обробки.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17"/>
          <p:cNvGrpSpPr/>
          <p:nvPr/>
        </p:nvGrpSpPr>
        <p:grpSpPr>
          <a:xfrm>
            <a:off x="4709160" y="1298258"/>
            <a:ext cx="4205400" cy="1047900"/>
            <a:chOff x="0" y="0"/>
            <a:chExt cx="4205400" cy="1047900"/>
          </a:xfrm>
        </p:grpSpPr>
        <p:sp>
          <p:nvSpPr>
            <p:cNvPr id="113" name="Google Shape;113;p17"/>
            <p:cNvSpPr/>
            <p:nvPr/>
          </p:nvSpPr>
          <p:spPr>
            <a:xfrm>
              <a:off x="0" y="0"/>
              <a:ext cx="42054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0" y="0"/>
              <a:ext cx="63900" cy="10479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190500" y="95250"/>
              <a:ext cx="3810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РОЗПОДІЛ РОЛЕЙ</a:t>
              </a:r>
              <a:endParaRPr b="1" sz="10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b="1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О. Горишевський:</a:t>
              </a: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Модуль Spark сесії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b="1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Д. Шляхетко:</a:t>
              </a: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Notebook для тестування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b="1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І. Мацько:</a:t>
              </a: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Spark-схеми для таблиць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b="1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Т. Соломія:</a:t>
              </a: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Функціонал завантаження даних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7"/>
          <p:cNvSpPr/>
          <p:nvPr/>
        </p:nvSpPr>
        <p:spPr>
          <a:xfrm>
            <a:off x="320040" y="2476500"/>
            <a:ext cx="8594400" cy="2286000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320040" y="2476500"/>
            <a:ext cx="8594400" cy="639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510540" y="2619375"/>
            <a:ext cx="381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Приклад схеми (tip_schema):</a:t>
            </a:r>
            <a:endParaRPr b="1" sz="1100">
              <a:solidFill>
                <a:srgbClr val="0A162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10540" y="2952750"/>
            <a:ext cx="8210700" cy="16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2875" lIns="142875" spcFirstLastPara="1" rIns="142875" wrap="square" tIns="14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4D8C"/>
                </a:solidFill>
                <a:highlight>
                  <a:srgbClr val="F5F8FF"/>
                </a:highlight>
                <a:latin typeface="Courier New"/>
                <a:ea typeface="Courier New"/>
                <a:cs typeface="Courier New"/>
                <a:sym typeface="Courier New"/>
              </a:rPr>
              <a:t>from pyspark.sql.types import StructType, StructField, StringType, IntegerType</a:t>
            </a:r>
            <a:endParaRPr sz="900">
              <a:solidFill>
                <a:srgbClr val="1E4D8C"/>
              </a:solidFill>
              <a:highlight>
                <a:srgbClr val="F5F8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4D8C"/>
                </a:solidFill>
                <a:highlight>
                  <a:srgbClr val="F5F8FF"/>
                </a:highlight>
                <a:latin typeface="Courier New"/>
                <a:ea typeface="Courier New"/>
                <a:cs typeface="Courier New"/>
                <a:sym typeface="Courier New"/>
              </a:rPr>
              <a:t>tip_schema = StructType([</a:t>
            </a:r>
            <a:endParaRPr sz="900">
              <a:solidFill>
                <a:srgbClr val="1E4D8C"/>
              </a:solidFill>
              <a:highlight>
                <a:srgbClr val="F5F8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4D8C"/>
                </a:solidFill>
                <a:highlight>
                  <a:srgbClr val="F5F8FF"/>
                </a:highlight>
                <a:latin typeface="Courier New"/>
                <a:ea typeface="Courier New"/>
                <a:cs typeface="Courier New"/>
                <a:sym typeface="Courier New"/>
              </a:rPr>
              <a:t>StructField("text", StringType(), True),</a:t>
            </a:r>
            <a:endParaRPr sz="900">
              <a:solidFill>
                <a:srgbClr val="1E4D8C"/>
              </a:solidFill>
              <a:highlight>
                <a:srgbClr val="F5F8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4D8C"/>
                </a:solidFill>
                <a:highlight>
                  <a:srgbClr val="F5F8FF"/>
                </a:highlight>
                <a:latin typeface="Courier New"/>
                <a:ea typeface="Courier New"/>
                <a:cs typeface="Courier New"/>
                <a:sym typeface="Courier New"/>
              </a:rPr>
              <a:t>StructField("date", StringType(), True),</a:t>
            </a:r>
            <a:endParaRPr sz="900">
              <a:solidFill>
                <a:srgbClr val="1E4D8C"/>
              </a:solidFill>
              <a:highlight>
                <a:srgbClr val="F5F8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4D8C"/>
                </a:solidFill>
                <a:highlight>
                  <a:srgbClr val="F5F8FF"/>
                </a:highlight>
                <a:latin typeface="Courier New"/>
                <a:ea typeface="Courier New"/>
                <a:cs typeface="Courier New"/>
                <a:sym typeface="Courier New"/>
              </a:rPr>
              <a:t>StructField("compliment_count", IntegerType(), True),</a:t>
            </a:r>
            <a:endParaRPr sz="900">
              <a:solidFill>
                <a:srgbClr val="1E4D8C"/>
              </a:solidFill>
              <a:highlight>
                <a:srgbClr val="F5F8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4D8C"/>
                </a:solidFill>
                <a:highlight>
                  <a:srgbClr val="F5F8FF"/>
                </a:highlight>
                <a:latin typeface="Courier New"/>
                <a:ea typeface="Courier New"/>
                <a:cs typeface="Courier New"/>
                <a:sym typeface="Courier New"/>
              </a:rPr>
              <a:t>StructField("business_id", StringType(), True),</a:t>
            </a:r>
            <a:endParaRPr sz="900">
              <a:solidFill>
                <a:srgbClr val="1E4D8C"/>
              </a:solidFill>
              <a:highlight>
                <a:srgbClr val="F5F8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4D8C"/>
                </a:solidFill>
                <a:highlight>
                  <a:srgbClr val="F5F8FF"/>
                </a:highlight>
                <a:latin typeface="Courier New"/>
                <a:ea typeface="Courier New"/>
                <a:cs typeface="Courier New"/>
                <a:sym typeface="Courier New"/>
              </a:rPr>
              <a:t>StructField("user_id", StringType(), True)</a:t>
            </a:r>
            <a:endParaRPr sz="900">
              <a:solidFill>
                <a:srgbClr val="1E4D8C"/>
              </a:solidFill>
              <a:highlight>
                <a:srgbClr val="F5F8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1E4D8C"/>
                </a:solidFill>
                <a:highlight>
                  <a:srgbClr val="F5F8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900">
              <a:solidFill>
                <a:srgbClr val="1E4D8C"/>
              </a:solidFill>
              <a:highlight>
                <a:srgbClr val="F5F8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0" y="0"/>
            <a:ext cx="1620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323850" y="200025"/>
            <a:ext cx="8505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Етап попередньої обробки даних</a:t>
            </a:r>
            <a:endParaRPr b="1" sz="2600">
              <a:solidFill>
                <a:srgbClr val="0A162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23850" y="781050"/>
            <a:ext cx="8505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Очищення, трансформація та підготовка датасету Yelp до аналізу</a:t>
            </a:r>
            <a:endParaRPr b="0"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23850" y="1114425"/>
            <a:ext cx="8505900" cy="285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18"/>
          <p:cNvGrpSpPr/>
          <p:nvPr/>
        </p:nvGrpSpPr>
        <p:grpSpPr>
          <a:xfrm>
            <a:off x="323850" y="1295400"/>
            <a:ext cx="4200600" cy="800100"/>
            <a:chOff x="0" y="0"/>
            <a:chExt cx="4200600" cy="800100"/>
          </a:xfrm>
        </p:grpSpPr>
        <p:sp>
          <p:nvSpPr>
            <p:cNvPr id="128" name="Google Shape;128;p18"/>
            <p:cNvSpPr/>
            <p:nvPr/>
          </p:nvSpPr>
          <p:spPr>
            <a:xfrm>
              <a:off x="0" y="0"/>
              <a:ext cx="42006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0" y="0"/>
              <a:ext cx="66600" cy="8001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142875" y="95250"/>
              <a:ext cx="476400" cy="190500"/>
            </a:xfrm>
            <a:prstGeom prst="roundRect">
              <a:avLst>
                <a:gd fmla="val 20000" name="adj"/>
              </a:avLst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142875" y="9525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Крок 1</a:t>
              </a:r>
              <a:endParaRPr b="1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2" name="Google Shape;132;p18"/>
            <p:cNvSpPr txBox="1"/>
            <p:nvPr/>
          </p:nvSpPr>
          <p:spPr>
            <a:xfrm>
              <a:off x="142875" y="333375"/>
              <a:ext cx="3914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D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Очищення та фільтрація</a:t>
              </a:r>
              <a:endParaRPr b="1" sz="1100">
                <a:solidFill>
                  <a:srgbClr val="1E4D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142875" y="523875"/>
              <a:ext cx="3914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79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Видалення дублікатів (79 у tip, 2 у photo) та обробка пропущених значень</a:t>
              </a:r>
              <a:endParaRPr b="0" sz="879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8"/>
          <p:cNvGrpSpPr/>
          <p:nvPr/>
        </p:nvGrpSpPr>
        <p:grpSpPr>
          <a:xfrm>
            <a:off x="323850" y="2219325"/>
            <a:ext cx="4200600" cy="800100"/>
            <a:chOff x="0" y="0"/>
            <a:chExt cx="4200600" cy="800100"/>
          </a:xfrm>
        </p:grpSpPr>
        <p:sp>
          <p:nvSpPr>
            <p:cNvPr id="135" name="Google Shape;135;p18"/>
            <p:cNvSpPr/>
            <p:nvPr/>
          </p:nvSpPr>
          <p:spPr>
            <a:xfrm>
              <a:off x="0" y="0"/>
              <a:ext cx="42006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0" y="0"/>
              <a:ext cx="66600" cy="8001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/>
            <p:nvPr/>
          </p:nvSpPr>
          <p:spPr>
            <a:xfrm>
              <a:off x="142875" y="95250"/>
              <a:ext cx="476400" cy="190500"/>
            </a:xfrm>
            <a:prstGeom prst="roundRect">
              <a:avLst>
                <a:gd fmla="val 20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142875" y="9525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Крок 2</a:t>
              </a:r>
              <a:endParaRPr b="1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142875" y="333375"/>
              <a:ext cx="3914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D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Розгортання структур (Flattening)</a:t>
              </a:r>
              <a:endParaRPr b="1" sz="1100">
                <a:solidFill>
                  <a:srgbClr val="1E4D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0" name="Google Shape;140;p18"/>
            <p:cNvSpPr txBox="1"/>
            <p:nvPr/>
          </p:nvSpPr>
          <p:spPr>
            <a:xfrm>
              <a:off x="142875" y="523875"/>
              <a:ext cx="3914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79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Перетворення вкладених JSON у стовпці: business (+37 стовпців)</a:t>
              </a:r>
              <a:endParaRPr b="0" sz="879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323850" y="3143250"/>
            <a:ext cx="4200600" cy="800100"/>
            <a:chOff x="0" y="0"/>
            <a:chExt cx="4200600" cy="800100"/>
          </a:xfrm>
        </p:grpSpPr>
        <p:sp>
          <p:nvSpPr>
            <p:cNvPr id="142" name="Google Shape;142;p18"/>
            <p:cNvSpPr/>
            <p:nvPr/>
          </p:nvSpPr>
          <p:spPr>
            <a:xfrm>
              <a:off x="0" y="0"/>
              <a:ext cx="42006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0" y="0"/>
              <a:ext cx="66600" cy="8001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142875" y="95250"/>
              <a:ext cx="476400" cy="190500"/>
            </a:xfrm>
            <a:prstGeom prst="roundRect">
              <a:avLst>
                <a:gd fmla="val 20000" name="adj"/>
              </a:avLst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142875" y="9525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Крок 3</a:t>
              </a:r>
              <a:endParaRPr b="1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142875" y="333375"/>
              <a:ext cx="3914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D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Трансформація та нормалізація</a:t>
              </a:r>
              <a:endParaRPr b="1" sz="1100">
                <a:solidFill>
                  <a:srgbClr val="1E4D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142875" y="523875"/>
              <a:ext cx="3914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79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Min-max нормалізація [0,1] та парсинг дат (рік, місяць, день)</a:t>
              </a:r>
              <a:endParaRPr b="0" sz="879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18"/>
          <p:cNvGrpSpPr/>
          <p:nvPr/>
        </p:nvGrpSpPr>
        <p:grpSpPr>
          <a:xfrm>
            <a:off x="323850" y="4067175"/>
            <a:ext cx="4200600" cy="800100"/>
            <a:chOff x="0" y="0"/>
            <a:chExt cx="4200600" cy="800100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4200600" cy="800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/>
            <p:nvPr/>
          </p:nvSpPr>
          <p:spPr>
            <a:xfrm>
              <a:off x="0" y="0"/>
              <a:ext cx="66600" cy="800100"/>
            </a:xfrm>
            <a:prstGeom prst="rect">
              <a:avLst/>
            </a:prstGeom>
            <a:solidFill>
              <a:srgbClr val="6B4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142875" y="95250"/>
              <a:ext cx="476400" cy="190500"/>
            </a:xfrm>
            <a:prstGeom prst="roundRect">
              <a:avLst>
                <a:gd fmla="val 20000" name="adj"/>
              </a:avLst>
            </a:prstGeom>
            <a:solidFill>
              <a:srgbClr val="6B4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42875" y="95250"/>
              <a:ext cx="476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Крок 4</a:t>
              </a:r>
              <a:endParaRPr b="1" sz="1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142875" y="333375"/>
              <a:ext cx="3914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E4D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Збереження результатів</a:t>
              </a:r>
              <a:endParaRPr b="1" sz="1100">
                <a:solidFill>
                  <a:srgbClr val="1E4D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142875" y="523875"/>
              <a:ext cx="3914700" cy="21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879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Експорт у формат Parquet та створення column_lineage.json</a:t>
              </a:r>
              <a:endParaRPr b="0" sz="879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8"/>
          <p:cNvGrpSpPr/>
          <p:nvPr/>
        </p:nvGrpSpPr>
        <p:grpSpPr>
          <a:xfrm>
            <a:off x="4872050" y="1295400"/>
            <a:ext cx="3957702" cy="1647508"/>
            <a:chOff x="0" y="0"/>
            <a:chExt cx="4205400" cy="1047900"/>
          </a:xfrm>
        </p:grpSpPr>
        <p:sp>
          <p:nvSpPr>
            <p:cNvPr id="156" name="Google Shape;156;p18"/>
            <p:cNvSpPr/>
            <p:nvPr/>
          </p:nvSpPr>
          <p:spPr>
            <a:xfrm>
              <a:off x="0" y="0"/>
              <a:ext cx="42054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0" y="0"/>
              <a:ext cx="63900" cy="10479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190500" y="95247"/>
              <a:ext cx="367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GB" sz="10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РОЗПОДІЛ РОЛЕЙ</a:t>
              </a:r>
              <a:endParaRPr b="1" sz="10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Олексій Горишевський - загальна статистика/аналіз набору даних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Данило Шляхетко - приведення до потрібного типу та парсинг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Ілля Мацько - аналіз інформативності ознак, вилучення неінформативних ознак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Труш Соломія - аналіз та видалення пропущених значень/дублікатів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t/>
              </a:r>
              <a:endParaRPr b="1" sz="10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600" y="3095375"/>
            <a:ext cx="4200600" cy="1659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0" y="0"/>
            <a:ext cx="1620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28625" y="238125"/>
            <a:ext cx="8286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-GB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Етап трансформації: Бізнес-аналіз</a:t>
            </a:r>
            <a:endParaRPr b="1" sz="26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428625" y="666750"/>
            <a:ext cx="8286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Відповіді на ключові питання щодо Yelp Dataset (Business Schema)</a:t>
            </a:r>
            <a:endParaRPr sz="13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p19"/>
          <p:cNvGrpSpPr/>
          <p:nvPr/>
        </p:nvGrpSpPr>
        <p:grpSpPr>
          <a:xfrm>
            <a:off x="428625" y="1095328"/>
            <a:ext cx="2667000" cy="1523276"/>
            <a:chOff x="428625" y="1095375"/>
            <a:chExt cx="2667000" cy="1143000"/>
          </a:xfrm>
        </p:grpSpPr>
        <p:pic>
          <p:nvPicPr>
            <p:cNvPr id="168" name="Google Shape;16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1095375"/>
              <a:ext cx="2667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8625" y="1095375"/>
              <a:ext cx="26670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9"/>
            <p:cNvSpPr txBox="1"/>
            <p:nvPr/>
          </p:nvSpPr>
          <p:spPr>
            <a:xfrm>
              <a:off x="571500" y="1190625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Q1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1" name="Google Shape;171;p19"/>
            <p:cNvSpPr txBox="1"/>
            <p:nvPr/>
          </p:nvSpPr>
          <p:spPr>
            <a:xfrm>
              <a:off x="571500" y="1524000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Топ-10 міст за активністю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571500" y="176212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Лідер: </a:t>
              </a:r>
              <a:r>
                <a:rPr b="1" lang="en-GB" sz="100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Філадельфія</a:t>
              </a: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(10.5k закладів). Аналіз активних бізнесів через groupBy.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3" name="Google Shape;173;p19"/>
          <p:cNvGrpSpPr/>
          <p:nvPr/>
        </p:nvGrpSpPr>
        <p:grpSpPr>
          <a:xfrm>
            <a:off x="3238500" y="1095376"/>
            <a:ext cx="2667000" cy="1523276"/>
            <a:chOff x="3238500" y="1095375"/>
            <a:chExt cx="2667000" cy="1143000"/>
          </a:xfrm>
        </p:grpSpPr>
        <p:pic>
          <p:nvPicPr>
            <p:cNvPr id="174" name="Google Shape;17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8500" y="1095375"/>
              <a:ext cx="2667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8500" y="1095375"/>
              <a:ext cx="26670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9"/>
            <p:cNvSpPr txBox="1"/>
            <p:nvPr/>
          </p:nvSpPr>
          <p:spPr>
            <a:xfrm>
              <a:off x="3381375" y="1190625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Q2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3381375" y="1524000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Популярність по штатах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78" name="Google Shape;178;p19"/>
            <p:cNvSpPr txBox="1"/>
            <p:nvPr/>
          </p:nvSpPr>
          <p:spPr>
            <a:xfrm>
              <a:off x="3381375" y="176212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Топ-5 бізнесів у кожному регіоні. Використано </a:t>
              </a:r>
              <a:r>
                <a:rPr b="1" lang="en-GB" sz="100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Window Functions</a:t>
              </a: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9"/>
          <p:cNvGrpSpPr/>
          <p:nvPr/>
        </p:nvGrpSpPr>
        <p:grpSpPr>
          <a:xfrm>
            <a:off x="6048375" y="1095401"/>
            <a:ext cx="2667000" cy="1523276"/>
            <a:chOff x="6048375" y="1095375"/>
            <a:chExt cx="2667000" cy="1143000"/>
          </a:xfrm>
        </p:grpSpPr>
        <p:pic>
          <p:nvPicPr>
            <p:cNvPr id="180" name="Google Shape;18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48375" y="1095375"/>
              <a:ext cx="2667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48375" y="1095375"/>
              <a:ext cx="26670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19"/>
            <p:cNvSpPr txBox="1"/>
            <p:nvPr/>
          </p:nvSpPr>
          <p:spPr>
            <a:xfrm>
              <a:off x="6191250" y="1190625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Q3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3" name="Google Shape;183;p19"/>
            <p:cNvSpPr txBox="1"/>
            <p:nvPr/>
          </p:nvSpPr>
          <p:spPr>
            <a:xfrm>
              <a:off x="6191250" y="1524000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Середній рейтинг по штатах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6191250" y="1762125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Пенсільванія (3.70), Флорида (3.76), Луїзіана (3.88).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19"/>
          <p:cNvGrpSpPr/>
          <p:nvPr/>
        </p:nvGrpSpPr>
        <p:grpSpPr>
          <a:xfrm>
            <a:off x="428625" y="2935906"/>
            <a:ext cx="2667000" cy="1549565"/>
            <a:chOff x="428625" y="2381250"/>
            <a:chExt cx="2667000" cy="1143000"/>
          </a:xfrm>
        </p:grpSpPr>
        <p:pic>
          <p:nvPicPr>
            <p:cNvPr id="186" name="Google Shape;186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8625" y="2381250"/>
              <a:ext cx="2667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28625" y="2381250"/>
              <a:ext cx="26670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9"/>
            <p:cNvSpPr txBox="1"/>
            <p:nvPr/>
          </p:nvSpPr>
          <p:spPr>
            <a:xfrm>
              <a:off x="571500" y="2476500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Q4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571500" y="2809875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Топ бізнесів Пенсільванії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571500" y="30480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Лідер: </a:t>
              </a:r>
              <a:r>
                <a:rPr b="1" lang="en-GB" sz="100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Reading Terminal Market</a:t>
              </a: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(5.7k відгуків, 4.61★).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19"/>
          <p:cNvGrpSpPr/>
          <p:nvPr/>
        </p:nvGrpSpPr>
        <p:grpSpPr>
          <a:xfrm>
            <a:off x="3238500" y="2935880"/>
            <a:ext cx="2667000" cy="1549565"/>
            <a:chOff x="3238500" y="2381250"/>
            <a:chExt cx="2667000" cy="1143000"/>
          </a:xfrm>
        </p:grpSpPr>
        <p:pic>
          <p:nvPicPr>
            <p:cNvPr id="192" name="Google Shape;192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38500" y="2381250"/>
              <a:ext cx="2667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38500" y="2381250"/>
              <a:ext cx="26670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19"/>
            <p:cNvSpPr txBox="1"/>
            <p:nvPr/>
          </p:nvSpPr>
          <p:spPr>
            <a:xfrm>
              <a:off x="3381375" y="2476500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Q5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3381375" y="2809875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Відхилення від середнього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3381375" y="30480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Ідентифікація еталонних закладів через Window Avg за містом.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19"/>
          <p:cNvGrpSpPr/>
          <p:nvPr/>
        </p:nvGrpSpPr>
        <p:grpSpPr>
          <a:xfrm>
            <a:off x="6048375" y="2935904"/>
            <a:ext cx="2667000" cy="1549565"/>
            <a:chOff x="6048375" y="2381250"/>
            <a:chExt cx="2667000" cy="1143000"/>
          </a:xfrm>
        </p:grpSpPr>
        <p:pic>
          <p:nvPicPr>
            <p:cNvPr id="198" name="Google Shape;198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048375" y="2381250"/>
              <a:ext cx="2667000" cy="11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048375" y="2381250"/>
              <a:ext cx="2667000" cy="57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19"/>
            <p:cNvSpPr txBox="1"/>
            <p:nvPr/>
          </p:nvSpPr>
          <p:spPr>
            <a:xfrm>
              <a:off x="6191250" y="2476500"/>
              <a:ext cx="476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Q6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1" name="Google Shape;201;p19"/>
            <p:cNvSpPr txBox="1"/>
            <p:nvPr/>
          </p:nvSpPr>
          <p:spPr>
            <a:xfrm>
              <a:off x="6191250" y="2809875"/>
              <a:ext cx="2381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Високорейтингові ресторани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02" name="Google Shape;202;p19"/>
            <p:cNvSpPr txBox="1"/>
            <p:nvPr/>
          </p:nvSpPr>
          <p:spPr>
            <a:xfrm>
              <a:off x="6191250" y="3048000"/>
              <a:ext cx="2381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Фільтрація: rating ≥ 4.5, reviews ≥ 100. Приклад: Hattie B's.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3863" y="4757738"/>
            <a:ext cx="8296200" cy="2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23875" y="4762500"/>
            <a:ext cx="8096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Відповідальний за етап: </a:t>
            </a:r>
            <a:r>
              <a:rPr b="1" lang="en-GB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Ілля Мацько (business schema)</a:t>
            </a: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• Інструментарій: Apache Spark SQL &amp; Window Functions</a:t>
            </a:r>
            <a:endParaRPr sz="9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0" y="0"/>
            <a:ext cx="1620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428625" y="238125"/>
            <a:ext cx="8286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-GB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Етап трансформації: Аналіз користувачів</a:t>
            </a:r>
            <a:endParaRPr b="1" sz="26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28625" y="666750"/>
            <a:ext cx="8286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Відповіді на ключові питання щодо Yelp Dataset (User Schema)</a:t>
            </a:r>
            <a:endParaRPr sz="13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428625" y="1095375"/>
            <a:ext cx="2667000" cy="1524000"/>
            <a:chOff x="0" y="0"/>
            <a:chExt cx="2667000" cy="1524000"/>
          </a:xfrm>
        </p:grpSpPr>
        <p:sp>
          <p:nvSpPr>
            <p:cNvPr id="213" name="Google Shape;213;p20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1A3A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0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25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Q1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Елітні користувачі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Лідер: </a:t>
              </a:r>
              <a:r>
                <a:rPr b="1" lang="en-GB" sz="100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Mike</a:t>
              </a: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(12.5k підписників). Критерії: ≥100 fans та ≥500 відгуків.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20"/>
          <p:cNvGrpSpPr/>
          <p:nvPr/>
        </p:nvGrpSpPr>
        <p:grpSpPr>
          <a:xfrm>
            <a:off x="3238500" y="1095375"/>
            <a:ext cx="2667000" cy="1524000"/>
            <a:chOff x="0" y="0"/>
            <a:chExt cx="2667000" cy="1524000"/>
          </a:xfrm>
        </p:grpSpPr>
        <p:sp>
          <p:nvSpPr>
            <p:cNvPr id="219" name="Google Shape;219;p20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1A3A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0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25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Q2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22" name="Google Shape;222;p20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Статистика активності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Когортний аналіз за роком реєстрації. Рівень залученості падає з часом.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p20"/>
          <p:cNvGrpSpPr/>
          <p:nvPr/>
        </p:nvGrpSpPr>
        <p:grpSpPr>
          <a:xfrm>
            <a:off x="6048375" y="1095375"/>
            <a:ext cx="2667000" cy="1524000"/>
            <a:chOff x="0" y="0"/>
            <a:chExt cx="2667000" cy="1524000"/>
          </a:xfrm>
        </p:grpSpPr>
        <p:sp>
          <p:nvSpPr>
            <p:cNvPr id="225" name="Google Shape;225;p20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1A3A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25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Q3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28" name="Google Shape;228;p20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Впливовість у когортах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Ранжування за корисними голосами. Лідер 2009: </a:t>
              </a:r>
              <a:r>
                <a:rPr b="1" lang="en-GB" sz="100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Fox</a:t>
              </a: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(206k голосів).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428625" y="2933700"/>
            <a:ext cx="2667000" cy="1524000"/>
            <a:chOff x="0" y="0"/>
            <a:chExt cx="2667000" cy="1524000"/>
          </a:xfrm>
        </p:grpSpPr>
        <p:sp>
          <p:nvSpPr>
            <p:cNvPr id="231" name="Google Shape;231;p20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1A3A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25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0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Q4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4" name="Google Shape;234;p20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Автори підказок (Tips)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Лідер: </a:t>
              </a:r>
              <a:r>
                <a:rPr b="1" lang="en-GB" sz="100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Michael</a:t>
              </a: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(4,071 підказка). Аналіз співвідношення кількість/якість.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20"/>
          <p:cNvGrpSpPr/>
          <p:nvPr/>
        </p:nvGrpSpPr>
        <p:grpSpPr>
          <a:xfrm>
            <a:off x="3238500" y="2933700"/>
            <a:ext cx="2667000" cy="1524000"/>
            <a:chOff x="0" y="0"/>
            <a:chExt cx="2667000" cy="1524000"/>
          </a:xfrm>
        </p:grpSpPr>
        <p:sp>
          <p:nvSpPr>
            <p:cNvPr id="237" name="Google Shape;237;p20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1A3A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25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Q5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Якість елітних відгуків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Топ-відгук: 360 корисних голосів. Елітні користувачі — ядро контенту.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20"/>
          <p:cNvGrpSpPr/>
          <p:nvPr/>
        </p:nvGrpSpPr>
        <p:grpSpPr>
          <a:xfrm>
            <a:off x="6048375" y="2933700"/>
            <a:ext cx="2667000" cy="1524000"/>
            <a:chOff x="0" y="0"/>
            <a:chExt cx="2667000" cy="1524000"/>
          </a:xfrm>
        </p:grpSpPr>
        <p:sp>
          <p:nvSpPr>
            <p:cNvPr id="243" name="Google Shape;243;p20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5000" name="adj"/>
              </a:avLst>
            </a:prstGeom>
            <a:solidFill>
              <a:srgbClr val="1A3A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25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Q6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Ранг за компліментами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47" name="Google Shape;247;p20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Лідер: </a:t>
              </a:r>
              <a:r>
                <a:rPr b="1" lang="en-GB" sz="100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Richard</a:t>
              </a:r>
              <a:r>
                <a:rPr lang="en-GB" sz="100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(324k компліментів). Використано percent_rank.</a:t>
              </a:r>
              <a:endParaRPr sz="10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20"/>
          <p:cNvSpPr txBox="1"/>
          <p:nvPr/>
        </p:nvSpPr>
        <p:spPr>
          <a:xfrm>
            <a:off x="428625" y="4762500"/>
            <a:ext cx="828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Відповідальний за етап: </a:t>
            </a:r>
            <a:r>
              <a:rPr b="1" lang="en-GB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Олексій Горишевський (user schema)</a:t>
            </a: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• Інструментарій: PySpark SQL &amp; Window Functions</a:t>
            </a:r>
            <a:endParaRPr sz="9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0" y="0"/>
            <a:ext cx="1620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428625" y="238125"/>
            <a:ext cx="8286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Етап трансформації: Аналіз відгуків</a:t>
            </a:r>
            <a:endParaRPr b="1" sz="26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28625" y="666750"/>
            <a:ext cx="8286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Відповіді на ключові питання щодо Yelp Dataset (Review Schema)</a:t>
            </a:r>
            <a:endParaRPr sz="13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21"/>
          <p:cNvGrpSpPr/>
          <p:nvPr/>
        </p:nvGrpSpPr>
        <p:grpSpPr>
          <a:xfrm>
            <a:off x="428625" y="1095375"/>
            <a:ext cx="2667000" cy="1524000"/>
            <a:chOff x="0" y="0"/>
            <a:chExt cx="2667000" cy="1524000"/>
          </a:xfrm>
        </p:grpSpPr>
        <p:pic>
          <p:nvPicPr>
            <p:cNvPr id="257" name="Google Shape;25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6670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9" name="Google Shape;259;p21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Q1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Високо оцінені корисні відгуки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1" name="Google Shape;261;p21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Критерії: ≥10 корисних голосів та 4-5 зірок. Топ-відгук: </a:t>
              </a:r>
              <a:r>
                <a:rPr b="1" lang="en-GB" sz="105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404 голоси</a:t>
              </a: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(2012 р.).</a:t>
              </a:r>
              <a:endParaRPr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21"/>
          <p:cNvGrpSpPr/>
          <p:nvPr/>
        </p:nvGrpSpPr>
        <p:grpSpPr>
          <a:xfrm>
            <a:off x="3238500" y="1095375"/>
            <a:ext cx="2667000" cy="1524000"/>
            <a:chOff x="0" y="0"/>
            <a:chExt cx="2667000" cy="1524000"/>
          </a:xfrm>
        </p:grpSpPr>
        <p:pic>
          <p:nvPicPr>
            <p:cNvPr id="263" name="Google Shape;263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6670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5" name="Google Shape;265;p21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Q2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Темпоральний аналіз активності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67" name="Google Shape;267;p21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Експоненційне зростання з 2005 р. Тренд на зниження середнього рейтингу з часом.</a:t>
              </a:r>
              <a:endParaRPr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8" name="Google Shape;268;p21"/>
          <p:cNvGrpSpPr/>
          <p:nvPr/>
        </p:nvGrpSpPr>
        <p:grpSpPr>
          <a:xfrm>
            <a:off x="6048375" y="1095375"/>
            <a:ext cx="2667000" cy="1524000"/>
            <a:chOff x="0" y="0"/>
            <a:chExt cx="2667000" cy="1524000"/>
          </a:xfrm>
        </p:grpSpPr>
        <p:pic>
          <p:nvPicPr>
            <p:cNvPr id="269" name="Google Shape;269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6670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0" name="Google Shape;270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1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Q3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Останні відгуки закладів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3" name="Google Shape;273;p21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Використано </a:t>
              </a:r>
              <a:r>
                <a:rPr b="1" lang="en-GB" sz="105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row_number</a:t>
              </a: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для ідентифікації свіжого стану та популярності бізнесу.</a:t>
              </a:r>
              <a:endParaRPr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21"/>
          <p:cNvGrpSpPr/>
          <p:nvPr/>
        </p:nvGrpSpPr>
        <p:grpSpPr>
          <a:xfrm>
            <a:off x="428625" y="2933700"/>
            <a:ext cx="2667000" cy="1524000"/>
            <a:chOff x="0" y="0"/>
            <a:chExt cx="2667000" cy="1524000"/>
          </a:xfrm>
        </p:grpSpPr>
        <p:pic>
          <p:nvPicPr>
            <p:cNvPr id="275" name="Google Shape;27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6670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7" name="Google Shape;277;p21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Q4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8" name="Google Shape;278;p21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Топ-20 популярних бізнесів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Лідер: </a:t>
              </a:r>
              <a:r>
                <a:rPr b="1" lang="en-GB" sz="105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Acme Oyster House</a:t>
              </a: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(7.6k відгуків). Join між таблицями Review та Business.</a:t>
              </a:r>
              <a:endParaRPr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21"/>
          <p:cNvGrpSpPr/>
          <p:nvPr/>
        </p:nvGrpSpPr>
        <p:grpSpPr>
          <a:xfrm>
            <a:off x="3238500" y="2933700"/>
            <a:ext cx="2667000" cy="1524000"/>
            <a:chOff x="0" y="0"/>
            <a:chExt cx="2667000" cy="1524000"/>
          </a:xfrm>
        </p:grpSpPr>
        <p:pic>
          <p:nvPicPr>
            <p:cNvPr id="281" name="Google Shape;281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6670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1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Q5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4" name="Google Shape;284;p21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Найкращі заклади харчування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85" name="Google Shape;285;p21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Аналіз 5-зіркових відгуків для категорії "Food". Лідер: </a:t>
              </a:r>
              <a:r>
                <a:rPr b="1" lang="en-GB" sz="105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Grimaldi's Pizzeria</a:t>
              </a: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21"/>
          <p:cNvGrpSpPr/>
          <p:nvPr/>
        </p:nvGrpSpPr>
        <p:grpSpPr>
          <a:xfrm>
            <a:off x="6048375" y="2933700"/>
            <a:ext cx="2667000" cy="1524000"/>
            <a:chOff x="0" y="0"/>
            <a:chExt cx="2667000" cy="1524000"/>
          </a:xfrm>
        </p:grpSpPr>
        <p:pic>
          <p:nvPicPr>
            <p:cNvPr id="287" name="Google Shape;287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2667000" cy="152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8" name="Google Shape;288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26670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21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Q6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0" name="Google Shape;290;p21"/>
            <p:cNvSpPr txBox="1"/>
            <p:nvPr/>
          </p:nvSpPr>
          <p:spPr>
            <a:xfrm>
              <a:off x="142875" y="571500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Кумулятивна динаміка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291" name="Google Shape;291;p21"/>
            <p:cNvSpPr txBox="1"/>
            <p:nvPr/>
          </p:nvSpPr>
          <p:spPr>
            <a:xfrm>
              <a:off x="142875" y="952500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Наростаючий підсумок через </a:t>
              </a:r>
              <a:r>
                <a:rPr b="1" lang="en-GB" sz="1050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Window.unboundedPreceding</a:t>
              </a:r>
              <a:r>
                <a:rPr lang="en-GB" sz="1050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. Аналіз життєвого циклу.</a:t>
              </a:r>
              <a:endParaRPr sz="105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21"/>
          <p:cNvSpPr txBox="1"/>
          <p:nvPr/>
        </p:nvSpPr>
        <p:spPr>
          <a:xfrm>
            <a:off x="428625" y="4762500"/>
            <a:ext cx="828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Відповідальна за етап: </a:t>
            </a:r>
            <a:r>
              <a:rPr b="1" lang="en-GB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Труш Соломія (review schema)</a:t>
            </a:r>
            <a:r>
              <a:rPr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• Інструментарій: PySpark SQL &amp; Window Functions</a:t>
            </a:r>
            <a:endParaRPr sz="9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/>
          <p:nvPr/>
        </p:nvSpPr>
        <p:spPr>
          <a:xfrm>
            <a:off x="0" y="0"/>
            <a:ext cx="1620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428625" y="238125"/>
            <a:ext cx="8286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Етап трансформації: Аналіз залучення</a:t>
            </a:r>
            <a:endParaRPr b="1" sz="26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98" name="Google Shape;298;p22"/>
          <p:cNvSpPr txBox="1"/>
          <p:nvPr/>
        </p:nvSpPr>
        <p:spPr>
          <a:xfrm>
            <a:off x="428625" y="666750"/>
            <a:ext cx="8286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Відповіді на ключові питання щодо Yelp Dataset (Engagement Metrics)</a:t>
            </a:r>
            <a:endParaRPr b="0" sz="1300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22"/>
          <p:cNvGrpSpPr/>
          <p:nvPr/>
        </p:nvGrpSpPr>
        <p:grpSpPr>
          <a:xfrm>
            <a:off x="428625" y="1095375"/>
            <a:ext cx="2667000" cy="1524000"/>
            <a:chOff x="0" y="0"/>
            <a:chExt cx="2667000" cy="1524000"/>
          </a:xfrm>
        </p:grpSpPr>
        <p:sp>
          <p:nvSpPr>
            <p:cNvPr id="300" name="Google Shape;300;p22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2500" name="adj"/>
              </a:avLst>
            </a:prstGeom>
            <a:solidFill>
              <a:srgbClr val="1A27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50000" name="adj"/>
              </a:avLst>
            </a:prstGeom>
            <a:solidFill>
              <a:srgbClr val="0D8C8C"/>
            </a:solidFill>
            <a:ln>
              <a:noFill/>
            </a:ln>
            <a:effectLst>
              <a:outerShdw blurRad="57150" rotWithShape="0" algn="bl" dir="5400000" dist="19050">
                <a:srgbClr val="BFC8D1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BFC8D1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Q1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142875" y="523875"/>
              <a:ext cx="2381400" cy="3810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BFC8D1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Огляди </a:t>
              </a: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після 2020 року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04" name="Google Shape;304;p22"/>
            <p:cNvSpPr txBox="1"/>
            <p:nvPr/>
          </p:nvSpPr>
          <p:spPr>
            <a:xfrm>
              <a:off x="142875" y="904875"/>
              <a:ext cx="2381400" cy="5238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BFC8D1">
                  <a:alpha val="50000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Пошук tips з ≥3 компліментами. Виявлено </a:t>
              </a:r>
              <a:r>
                <a:rPr b="1" lang="en-GB" sz="971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8 підказок</a:t>
              </a: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, що свідчить про зміну залученості в пост-пандемічний період.</a:t>
              </a:r>
              <a:endParaRPr b="0" sz="97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5" name="Google Shape;305;p22"/>
          <p:cNvGrpSpPr/>
          <p:nvPr/>
        </p:nvGrpSpPr>
        <p:grpSpPr>
          <a:xfrm>
            <a:off x="3238500" y="1095375"/>
            <a:ext cx="2667000" cy="1524000"/>
            <a:chOff x="0" y="0"/>
            <a:chExt cx="2667000" cy="1524000"/>
          </a:xfrm>
        </p:grpSpPr>
        <p:sp>
          <p:nvSpPr>
            <p:cNvPr id="306" name="Google Shape;306;p22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2500" name="adj"/>
              </a:avLst>
            </a:prstGeom>
            <a:solidFill>
              <a:srgbClr val="1A27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50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Q2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09" name="Google Shape;309;p22"/>
            <p:cNvSpPr txBox="1"/>
            <p:nvPr/>
          </p:nvSpPr>
          <p:spPr>
            <a:xfrm>
              <a:off x="142875" y="52387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Топ локацій за чек-інами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10" name="Google Shape;310;p22"/>
            <p:cNvSpPr txBox="1"/>
            <p:nvPr/>
          </p:nvSpPr>
          <p:spPr>
            <a:xfrm>
              <a:off x="142875" y="904875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Лідер: </a:t>
              </a:r>
              <a:r>
                <a:rPr b="1" lang="en-GB" sz="971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Philadelphia International Airport</a:t>
              </a: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(52k чек-інів). Транспортні вузли генерують найбільший трафік.</a:t>
              </a:r>
              <a:endParaRPr b="0" sz="97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22"/>
          <p:cNvGrpSpPr/>
          <p:nvPr/>
        </p:nvGrpSpPr>
        <p:grpSpPr>
          <a:xfrm>
            <a:off x="6048375" y="1095375"/>
            <a:ext cx="2667000" cy="1524000"/>
            <a:chOff x="0" y="0"/>
            <a:chExt cx="2667000" cy="1524000"/>
          </a:xfrm>
        </p:grpSpPr>
        <p:sp>
          <p:nvSpPr>
            <p:cNvPr id="312" name="Google Shape;312;p22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2500" name="adj"/>
              </a:avLst>
            </a:prstGeom>
            <a:solidFill>
              <a:srgbClr val="1A27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50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2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Q3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15" name="Google Shape;315;p22"/>
            <p:cNvSpPr txBox="1"/>
            <p:nvPr/>
          </p:nvSpPr>
          <p:spPr>
            <a:xfrm>
              <a:off x="142875" y="52387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Лідери підказок за містами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16" name="Google Shape;316;p22"/>
            <p:cNvSpPr txBox="1"/>
            <p:nvPr/>
          </p:nvSpPr>
          <p:spPr>
            <a:xfrm>
              <a:off x="142875" y="904875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Використано </a:t>
              </a:r>
              <a:r>
                <a:rPr b="1" lang="en-GB" sz="971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rank()</a:t>
              </a: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для ідентифікації локальних лідерів. Приклад: El Limon в Ambler (68 tips).</a:t>
              </a:r>
              <a:endParaRPr b="0" sz="97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22"/>
          <p:cNvGrpSpPr/>
          <p:nvPr/>
        </p:nvGrpSpPr>
        <p:grpSpPr>
          <a:xfrm>
            <a:off x="428625" y="2933700"/>
            <a:ext cx="2667075" cy="1524000"/>
            <a:chOff x="0" y="0"/>
            <a:chExt cx="2667075" cy="1524000"/>
          </a:xfrm>
        </p:grpSpPr>
        <p:sp>
          <p:nvSpPr>
            <p:cNvPr id="318" name="Google Shape;318;p22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2500" name="adj"/>
              </a:avLst>
            </a:prstGeom>
            <a:solidFill>
              <a:srgbClr val="1A27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50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Q4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1" name="Google Shape;321;p22"/>
            <p:cNvSpPr txBox="1"/>
            <p:nvPr/>
          </p:nvSpPr>
          <p:spPr>
            <a:xfrm>
              <a:off x="142875" y="523875"/>
              <a:ext cx="2524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Мультимедійна активність закладів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142875" y="904875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Аналіз бізнесів з фото та tips. Лідер: </a:t>
              </a:r>
              <a:r>
                <a:rPr b="1" lang="en-GB" sz="971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Café Du Monde</a:t>
              </a: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 (2.5k підказок та 528 фотографій).</a:t>
              </a:r>
              <a:endParaRPr b="0" sz="97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3238500" y="2933700"/>
            <a:ext cx="2667000" cy="1524000"/>
            <a:chOff x="0" y="0"/>
            <a:chExt cx="2667000" cy="1524000"/>
          </a:xfrm>
        </p:grpSpPr>
        <p:sp>
          <p:nvSpPr>
            <p:cNvPr id="324" name="Google Shape;324;p22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2500" name="adj"/>
              </a:avLst>
            </a:prstGeom>
            <a:solidFill>
              <a:srgbClr val="1A27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50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2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Q5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7" name="Google Shape;327;p22"/>
            <p:cNvSpPr txBox="1"/>
            <p:nvPr/>
          </p:nvSpPr>
          <p:spPr>
            <a:xfrm>
              <a:off x="142875" y="52387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Популярні відкриті заклади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28" name="Google Shape;328;p22"/>
            <p:cNvSpPr txBox="1"/>
            <p:nvPr/>
          </p:nvSpPr>
          <p:spPr>
            <a:xfrm>
              <a:off x="142875" y="904875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Фільтрація: ≥4.0 зірок та ≥10 підказок. Поєднання якості сервісу та активності спільноти.</a:t>
              </a:r>
              <a:endParaRPr b="0" sz="97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22"/>
          <p:cNvGrpSpPr/>
          <p:nvPr/>
        </p:nvGrpSpPr>
        <p:grpSpPr>
          <a:xfrm>
            <a:off x="6048375" y="2933700"/>
            <a:ext cx="2667000" cy="1524000"/>
            <a:chOff x="0" y="0"/>
            <a:chExt cx="2667000" cy="1524000"/>
          </a:xfrm>
        </p:grpSpPr>
        <p:sp>
          <p:nvSpPr>
            <p:cNvPr id="330" name="Google Shape;330;p22"/>
            <p:cNvSpPr/>
            <p:nvPr/>
          </p:nvSpPr>
          <p:spPr>
            <a:xfrm>
              <a:off x="0" y="0"/>
              <a:ext cx="2667000" cy="1524000"/>
            </a:xfrm>
            <a:prstGeom prst="roundRect">
              <a:avLst>
                <a:gd fmla="val 2500" name="adj"/>
              </a:avLst>
            </a:prstGeom>
            <a:solidFill>
              <a:srgbClr val="1A27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0" y="0"/>
              <a:ext cx="2667000" cy="76200"/>
            </a:xfrm>
            <a:prstGeom prst="roundRect">
              <a:avLst>
                <a:gd fmla="val 50000" name="adj"/>
              </a:avLst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2"/>
            <p:cNvSpPr txBox="1"/>
            <p:nvPr/>
          </p:nvSpPr>
          <p:spPr>
            <a:xfrm>
              <a:off x="142875" y="142875"/>
              <a:ext cx="476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0D8C8C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Q6</a:t>
              </a:r>
              <a:endParaRPr b="1" sz="1800">
                <a:solidFill>
                  <a:srgbClr val="0D8C8C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3" name="Google Shape;333;p22"/>
            <p:cNvSpPr txBox="1"/>
            <p:nvPr/>
          </p:nvSpPr>
          <p:spPr>
            <a:xfrm>
              <a:off x="142875" y="52387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Частота створення контенту</a:t>
              </a:r>
              <a:endPara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34" name="Google Shape;334;p22"/>
            <p:cNvSpPr txBox="1"/>
            <p:nvPr/>
          </p:nvSpPr>
          <p:spPr>
            <a:xfrm>
              <a:off x="142875" y="904875"/>
              <a:ext cx="2381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Обчислення інтервалів через </a:t>
              </a:r>
              <a:r>
                <a:rPr b="1" lang="en-GB" sz="971">
                  <a:solidFill>
                    <a:srgbClr val="0D8C8C"/>
                  </a:solidFill>
                  <a:latin typeface="Calibri"/>
                  <a:ea typeface="Calibri"/>
                  <a:cs typeface="Calibri"/>
                  <a:sym typeface="Calibri"/>
                </a:rPr>
                <a:t>lag()</a:t>
              </a:r>
              <a:r>
                <a:rPr b="0" lang="en-GB" sz="971">
                  <a:solidFill>
                    <a:srgbClr val="CADCFC"/>
                  </a:solidFill>
                  <a:latin typeface="Calibri"/>
                  <a:ea typeface="Calibri"/>
                  <a:cs typeface="Calibri"/>
                  <a:sym typeface="Calibri"/>
                </a:rPr>
                <a:t>. Аналіз патернів поведінки від щоденних до епізодичних записів.</a:t>
              </a:r>
              <a:endParaRPr b="0" sz="971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22"/>
          <p:cNvSpPr txBox="1"/>
          <p:nvPr/>
        </p:nvSpPr>
        <p:spPr>
          <a:xfrm>
            <a:off x="428625" y="4762500"/>
            <a:ext cx="828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Відповідальний за етап: </a:t>
            </a:r>
            <a:r>
              <a:rPr b="1" lang="en-GB" sz="9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Данило Шляхетко (engagement metrics)</a:t>
            </a:r>
            <a:r>
              <a:rPr b="0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• Інструментарій: PySpark SQL &amp; Window Functions</a:t>
            </a:r>
            <a:endParaRPr b="0" sz="9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3"/>
          <p:cNvSpPr/>
          <p:nvPr/>
        </p:nvSpPr>
        <p:spPr>
          <a:xfrm>
            <a:off x="0" y="0"/>
            <a:ext cx="1638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323850" y="200025"/>
            <a:ext cx="8505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Етап запису результатів</a:t>
            </a:r>
            <a:endParaRPr b="1" sz="2600">
              <a:solidFill>
                <a:srgbClr val="0A162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323850" y="781050"/>
            <a:ext cx="8505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Фіналізація та експорт оброблених даних для подальшого аналізу</a:t>
            </a:r>
            <a:endParaRPr b="0"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323850" y="1114425"/>
            <a:ext cx="8505900" cy="285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3" name="Google Shape;343;p23"/>
          <p:cNvGrpSpPr/>
          <p:nvPr/>
        </p:nvGrpSpPr>
        <p:grpSpPr>
          <a:xfrm>
            <a:off x="334313" y="2119275"/>
            <a:ext cx="2743200" cy="1600200"/>
            <a:chOff x="0" y="0"/>
            <a:chExt cx="2743200" cy="1600200"/>
          </a:xfrm>
        </p:grpSpPr>
        <p:sp>
          <p:nvSpPr>
            <p:cNvPr id="344" name="Google Shape;344;p23"/>
            <p:cNvSpPr/>
            <p:nvPr/>
          </p:nvSpPr>
          <p:spPr>
            <a:xfrm>
              <a:off x="0" y="0"/>
              <a:ext cx="2743200" cy="16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0" y="0"/>
              <a:ext cx="2743200" cy="762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3"/>
            <p:cNvSpPr txBox="1"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endPara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8" name="Google Shape;348;p23"/>
            <p:cNvSpPr txBox="1"/>
            <p:nvPr/>
          </p:nvSpPr>
          <p:spPr>
            <a:xfrm>
              <a:off x="552450" y="152400"/>
              <a:ext cx="204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A162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CSV Експорт</a:t>
              </a:r>
              <a:endParaRPr b="1" sz="1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49" name="Google Shape;349;p23"/>
            <p:cNvSpPr txBox="1"/>
            <p:nvPr/>
          </p:nvSpPr>
          <p:spPr>
            <a:xfrm>
              <a:off x="142875" y="590550"/>
              <a:ext cx="24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Збереження отриманих результатів у .csv файли для всіх 6 основних таблиць датасету Yelp.</a:t>
              </a:r>
              <a:endParaRPr b="0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0" name="Google Shape;350;p23"/>
          <p:cNvGrpSpPr/>
          <p:nvPr/>
        </p:nvGrpSpPr>
        <p:grpSpPr>
          <a:xfrm>
            <a:off x="3248025" y="2119263"/>
            <a:ext cx="2743200" cy="1600200"/>
            <a:chOff x="0" y="0"/>
            <a:chExt cx="2743200" cy="1600200"/>
          </a:xfrm>
        </p:grpSpPr>
        <p:sp>
          <p:nvSpPr>
            <p:cNvPr id="351" name="Google Shape;351;p23"/>
            <p:cNvSpPr/>
            <p:nvPr/>
          </p:nvSpPr>
          <p:spPr>
            <a:xfrm>
              <a:off x="0" y="0"/>
              <a:ext cx="2743200" cy="16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3"/>
            <p:cNvSpPr/>
            <p:nvPr/>
          </p:nvSpPr>
          <p:spPr>
            <a:xfrm>
              <a:off x="0" y="0"/>
              <a:ext cx="2743200" cy="762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3"/>
            <p:cNvSpPr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3"/>
            <p:cNvSpPr txBox="1"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</a:t>
              </a:r>
              <a:endPara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5" name="Google Shape;355;p23"/>
            <p:cNvSpPr txBox="1"/>
            <p:nvPr/>
          </p:nvSpPr>
          <p:spPr>
            <a:xfrm>
              <a:off x="552450" y="152400"/>
              <a:ext cx="204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A162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Parquet Формат</a:t>
              </a:r>
              <a:endParaRPr b="1" sz="1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56" name="Google Shape;356;p23"/>
            <p:cNvSpPr txBox="1"/>
            <p:nvPr/>
          </p:nvSpPr>
          <p:spPr>
            <a:xfrm>
              <a:off x="142875" y="590550"/>
              <a:ext cx="24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Використання Parquet для оптимізації структури, забезпечення відтворюваності та продуктивності.</a:t>
              </a:r>
              <a:endParaRPr b="0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23"/>
          <p:cNvGrpSpPr/>
          <p:nvPr/>
        </p:nvGrpSpPr>
        <p:grpSpPr>
          <a:xfrm>
            <a:off x="6161725" y="2119263"/>
            <a:ext cx="2743200" cy="1600200"/>
            <a:chOff x="0" y="0"/>
            <a:chExt cx="2743200" cy="1600200"/>
          </a:xfrm>
        </p:grpSpPr>
        <p:sp>
          <p:nvSpPr>
            <p:cNvPr id="358" name="Google Shape;358;p23"/>
            <p:cNvSpPr/>
            <p:nvPr/>
          </p:nvSpPr>
          <p:spPr>
            <a:xfrm>
              <a:off x="0" y="0"/>
              <a:ext cx="2743200" cy="16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3"/>
            <p:cNvSpPr/>
            <p:nvPr/>
          </p:nvSpPr>
          <p:spPr>
            <a:xfrm>
              <a:off x="0" y="0"/>
              <a:ext cx="2743200" cy="76200"/>
            </a:xfrm>
            <a:prstGeom prst="rect">
              <a:avLst/>
            </a:prstGeom>
            <a:solidFill>
              <a:srgbClr val="6B4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3"/>
            <p:cNvSpPr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solidFill>
              <a:srgbClr val="6B4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3"/>
            <p:cNvSpPr txBox="1"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2" name="Google Shape;362;p23"/>
            <p:cNvSpPr txBox="1"/>
            <p:nvPr/>
          </p:nvSpPr>
          <p:spPr>
            <a:xfrm>
              <a:off x="552450" y="152400"/>
              <a:ext cx="204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A162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Column Lineage</a:t>
              </a:r>
              <a:endParaRPr b="1" sz="1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63" name="Google Shape;363;p23"/>
            <p:cNvSpPr txBox="1"/>
            <p:nvPr/>
          </p:nvSpPr>
          <p:spPr>
            <a:xfrm>
              <a:off x="142875" y="590550"/>
              <a:ext cx="24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Створення JSON-файлу для відстеження походження стовпців та аудиту трансформацій.</a:t>
              </a:r>
              <a:endParaRPr b="0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4" name="Google Shape;364;p23"/>
          <p:cNvSpPr txBox="1"/>
          <p:nvPr/>
        </p:nvSpPr>
        <p:spPr>
          <a:xfrm>
            <a:off x="428625" y="4762500"/>
            <a:ext cx="828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Командна розробка: Олексій Г., Данило Ш., Ілля М., Соломія Т. • Формат: Parquet, CSV &amp; JSON</a:t>
            </a:r>
            <a:endParaRPr b="0" sz="9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0" y="0"/>
            <a:ext cx="1638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"/>
          <p:cNvSpPr txBox="1"/>
          <p:nvPr/>
        </p:nvSpPr>
        <p:spPr>
          <a:xfrm>
            <a:off x="323850" y="200025"/>
            <a:ext cx="85059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Висновки та перспективи</a:t>
            </a:r>
            <a:endParaRPr b="1" sz="2600">
              <a:solidFill>
                <a:srgbClr val="0A1628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71" name="Google Shape;371;p24"/>
          <p:cNvSpPr txBox="1"/>
          <p:nvPr/>
        </p:nvSpPr>
        <p:spPr>
          <a:xfrm>
            <a:off x="323850" y="781050"/>
            <a:ext cx="8505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Підбиття підсумків проекту та визначення векторів подальшого розвитку</a:t>
            </a:r>
            <a:endParaRPr b="0"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323850" y="1114425"/>
            <a:ext cx="8505900" cy="285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>
            <a:off x="323850" y="1295400"/>
            <a:ext cx="2743200" cy="1600200"/>
            <a:chOff x="0" y="0"/>
            <a:chExt cx="2743200" cy="1600200"/>
          </a:xfrm>
        </p:grpSpPr>
        <p:sp>
          <p:nvSpPr>
            <p:cNvPr id="374" name="Google Shape;374;p24"/>
            <p:cNvSpPr/>
            <p:nvPr/>
          </p:nvSpPr>
          <p:spPr>
            <a:xfrm>
              <a:off x="0" y="0"/>
              <a:ext cx="2743200" cy="16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4"/>
            <p:cNvSpPr/>
            <p:nvPr/>
          </p:nvSpPr>
          <p:spPr>
            <a:xfrm>
              <a:off x="0" y="0"/>
              <a:ext cx="2743200" cy="762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4"/>
            <p:cNvSpPr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solidFill>
              <a:srgbClr val="1E4D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4"/>
            <p:cNvSpPr txBox="1"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</a:t>
              </a:r>
              <a:endPara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78" name="Google Shape;378;p24"/>
            <p:cNvSpPr txBox="1"/>
            <p:nvPr/>
          </p:nvSpPr>
          <p:spPr>
            <a:xfrm>
              <a:off x="552450" y="152400"/>
              <a:ext cx="204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A162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Успішна реалізація</a:t>
              </a:r>
              <a:endParaRPr b="1" sz="1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79" name="Google Shape;379;p24"/>
            <p:cNvSpPr txBox="1"/>
            <p:nvPr/>
          </p:nvSpPr>
          <p:spPr>
            <a:xfrm>
              <a:off x="142875" y="590550"/>
              <a:ext cx="24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Побудовано повний конвеєр обробки Yelp датасету (10.4 млн записів) з використанням Apache Spark та Docker.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24"/>
          <p:cNvGrpSpPr/>
          <p:nvPr/>
        </p:nvGrpSpPr>
        <p:grpSpPr>
          <a:xfrm>
            <a:off x="3248025" y="1295400"/>
            <a:ext cx="2743200" cy="1600200"/>
            <a:chOff x="0" y="0"/>
            <a:chExt cx="2743200" cy="1600200"/>
          </a:xfrm>
        </p:grpSpPr>
        <p:sp>
          <p:nvSpPr>
            <p:cNvPr id="381" name="Google Shape;381;p24"/>
            <p:cNvSpPr/>
            <p:nvPr/>
          </p:nvSpPr>
          <p:spPr>
            <a:xfrm>
              <a:off x="0" y="0"/>
              <a:ext cx="2743200" cy="16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4"/>
            <p:cNvSpPr/>
            <p:nvPr/>
          </p:nvSpPr>
          <p:spPr>
            <a:xfrm>
              <a:off x="0" y="0"/>
              <a:ext cx="2743200" cy="762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4"/>
            <p:cNvSpPr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4"/>
            <p:cNvSpPr txBox="1"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2</a:t>
              </a:r>
              <a:endPara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5" name="Google Shape;385;p24"/>
            <p:cNvSpPr txBox="1"/>
            <p:nvPr/>
          </p:nvSpPr>
          <p:spPr>
            <a:xfrm>
              <a:off x="552450" y="152400"/>
              <a:ext cx="204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A162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Ефективність даних</a:t>
              </a:r>
              <a:endParaRPr b="1" sz="1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86" name="Google Shape;386;p24"/>
            <p:cNvSpPr txBox="1"/>
            <p:nvPr/>
          </p:nvSpPr>
          <p:spPr>
            <a:xfrm>
              <a:off x="142875" y="590550"/>
              <a:ext cx="24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Досягнуто мінімальних втрат (лише 81 запис) при значному розширенні схем для глибокого аналізу.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4"/>
          <p:cNvGrpSpPr/>
          <p:nvPr/>
        </p:nvGrpSpPr>
        <p:grpSpPr>
          <a:xfrm>
            <a:off x="6172200" y="1295400"/>
            <a:ext cx="2743200" cy="1600200"/>
            <a:chOff x="0" y="0"/>
            <a:chExt cx="2743200" cy="1600200"/>
          </a:xfrm>
        </p:grpSpPr>
        <p:sp>
          <p:nvSpPr>
            <p:cNvPr id="388" name="Google Shape;388;p24"/>
            <p:cNvSpPr/>
            <p:nvPr/>
          </p:nvSpPr>
          <p:spPr>
            <a:xfrm>
              <a:off x="0" y="0"/>
              <a:ext cx="2743200" cy="160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4"/>
            <p:cNvSpPr/>
            <p:nvPr/>
          </p:nvSpPr>
          <p:spPr>
            <a:xfrm>
              <a:off x="0" y="0"/>
              <a:ext cx="2743200" cy="76200"/>
            </a:xfrm>
            <a:prstGeom prst="rect">
              <a:avLst/>
            </a:prstGeom>
            <a:solidFill>
              <a:srgbClr val="6B4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4"/>
            <p:cNvSpPr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solidFill>
              <a:srgbClr val="6B4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4"/>
            <p:cNvSpPr txBox="1"/>
            <p:nvPr/>
          </p:nvSpPr>
          <p:spPr>
            <a:xfrm>
              <a:off x="142875" y="152400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3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3</a:t>
              </a:r>
              <a:endParaRPr b="1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2" name="Google Shape;392;p24"/>
            <p:cNvSpPr txBox="1"/>
            <p:nvPr/>
          </p:nvSpPr>
          <p:spPr>
            <a:xfrm>
              <a:off x="552450" y="152400"/>
              <a:ext cx="204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A1628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Майбутні кроки</a:t>
              </a:r>
              <a:endParaRPr b="1" sz="12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  <p:sp>
          <p:nvSpPr>
            <p:cNvPr id="393" name="Google Shape;393;p24"/>
            <p:cNvSpPr txBox="1"/>
            <p:nvPr/>
          </p:nvSpPr>
          <p:spPr>
            <a:xfrm>
              <a:off x="142875" y="590550"/>
              <a:ext cx="2457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Інтеграція моделей машинного навчання для предиктивної аналітики та розширення на нові джерела даних.</a:t>
              </a:r>
              <a:endParaRPr b="0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24"/>
          <p:cNvSpPr txBox="1"/>
          <p:nvPr/>
        </p:nvSpPr>
        <p:spPr>
          <a:xfrm>
            <a:off x="428625" y="4762500"/>
            <a:ext cx="8286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Видобування великих даних • Команда: Олексій Г., Данило Ш., Ілля М., Соломія Т. • 2026</a:t>
            </a:r>
            <a:endParaRPr b="0" sz="9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5" name="Google Shape;395;p24"/>
          <p:cNvGrpSpPr/>
          <p:nvPr/>
        </p:nvGrpSpPr>
        <p:grpSpPr>
          <a:xfrm>
            <a:off x="428625" y="3305100"/>
            <a:ext cx="8486643" cy="1289336"/>
            <a:chOff x="0" y="0"/>
            <a:chExt cx="4286400" cy="1047900"/>
          </a:xfrm>
        </p:grpSpPr>
        <p:sp>
          <p:nvSpPr>
            <p:cNvPr id="396" name="Google Shape;396;p24"/>
            <p:cNvSpPr/>
            <p:nvPr/>
          </p:nvSpPr>
          <p:spPr>
            <a:xfrm>
              <a:off x="0" y="0"/>
              <a:ext cx="42864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0" y="0"/>
              <a:ext cx="76200" cy="1047900"/>
            </a:xfrm>
            <a:prstGeom prst="rect">
              <a:avLst/>
            </a:prstGeom>
            <a:solidFill>
              <a:srgbClr val="0D8C8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4"/>
          <p:cNvSpPr txBox="1"/>
          <p:nvPr/>
        </p:nvSpPr>
        <p:spPr>
          <a:xfrm>
            <a:off x="781125" y="3438375"/>
            <a:ext cx="7934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A1628"/>
                </a:solidFill>
                <a:latin typeface="Trebuchet MS"/>
                <a:ea typeface="Trebuchet MS"/>
                <a:cs typeface="Trebuchet MS"/>
                <a:sym typeface="Trebuchet MS"/>
              </a:rPr>
              <a:t>Ключовий результат</a:t>
            </a:r>
            <a:endParaRPr b="1" sz="1400">
              <a:solidFill>
                <a:srgbClr val="0A1628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GB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Проект підтвердив масштабованість Apache Spark для обробки мільйонів записів та важливість структурованого підходу до Data Engineering. Створений конвеєр є повністю відтворюваним та готовим до аудиту.</a:t>
            </a:r>
            <a:endParaRPr b="0"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D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"/>
          <p:cNvSpPr/>
          <p:nvPr/>
        </p:nvSpPr>
        <p:spPr>
          <a:xfrm>
            <a:off x="0" y="0"/>
            <a:ext cx="163800" cy="5143500"/>
          </a:xfrm>
          <a:prstGeom prst="rect">
            <a:avLst/>
          </a:prstGeom>
          <a:solidFill>
            <a:srgbClr val="0D8C8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3" name="Google Shape;403;p25"/>
          <p:cNvGrpSpPr/>
          <p:nvPr/>
        </p:nvGrpSpPr>
        <p:grpSpPr>
          <a:xfrm>
            <a:off x="1435000" y="1804850"/>
            <a:ext cx="6274004" cy="1533811"/>
            <a:chOff x="0" y="0"/>
            <a:chExt cx="4286400" cy="1047900"/>
          </a:xfrm>
        </p:grpSpPr>
        <p:sp>
          <p:nvSpPr>
            <p:cNvPr id="404" name="Google Shape;404;p25"/>
            <p:cNvSpPr/>
            <p:nvPr/>
          </p:nvSpPr>
          <p:spPr>
            <a:xfrm>
              <a:off x="0" y="0"/>
              <a:ext cx="42864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5"/>
            <p:cNvSpPr txBox="1"/>
            <p:nvPr/>
          </p:nvSpPr>
          <p:spPr>
            <a:xfrm>
              <a:off x="452099" y="295049"/>
              <a:ext cx="3382200" cy="45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439"/>
                </a:spcAft>
                <a:buNone/>
              </a:pPr>
              <a:r>
                <a:rPr b="1" lang="en-GB" sz="4800">
                  <a:solidFill>
                    <a:schemeClr val="dk1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Дякую за увагу!</a:t>
              </a:r>
              <a:endParaRPr b="1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